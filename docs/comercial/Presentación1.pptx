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57" r:id="rId3"/>
    <p:sldId id="258" r:id="rId4"/>
    <p:sldId id="259" r:id="rId5"/>
    <p:sldId id="265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FF3D"/>
    <a:srgbClr val="6C4CFF"/>
    <a:srgbClr val="000000"/>
    <a:srgbClr val="0B0C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>
        <p:scale>
          <a:sx n="75" d="100"/>
          <a:sy n="75" d="100"/>
        </p:scale>
        <p:origin x="320" y="-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93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E5168-5B99-4F9C-9198-960305DB66C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F261-EE2E-48DE-9EEB-89ADF388B9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879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 a </a:t>
            </a:r>
            <a:r>
              <a:rPr lang="es-ES" dirty="0" err="1"/>
              <a:t>company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10 </a:t>
            </a:r>
            <a:r>
              <a:rPr lang="es-ES" dirty="0" err="1"/>
              <a:t>employees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pay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 </a:t>
            </a:r>
            <a:r>
              <a:rPr lang="es-ES" dirty="0" err="1"/>
              <a:t>roughly</a:t>
            </a:r>
            <a:r>
              <a:rPr lang="es-ES" dirty="0"/>
              <a:t> 4 </a:t>
            </a:r>
            <a:r>
              <a:rPr lang="es-ES" dirty="0" err="1"/>
              <a:t>work</a:t>
            </a:r>
            <a:r>
              <a:rPr lang="es-E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F261-EE2E-48DE-9EEB-89ADF388B94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5657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 a </a:t>
            </a:r>
            <a:r>
              <a:rPr lang="es-ES" dirty="0" err="1"/>
              <a:t>company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10 </a:t>
            </a:r>
            <a:r>
              <a:rPr lang="es-ES" dirty="0" err="1"/>
              <a:t>employees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pay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 </a:t>
            </a:r>
            <a:r>
              <a:rPr lang="es-ES" dirty="0" err="1"/>
              <a:t>roughly</a:t>
            </a:r>
            <a:r>
              <a:rPr lang="es-ES" dirty="0"/>
              <a:t> 4 </a:t>
            </a:r>
            <a:r>
              <a:rPr lang="es-ES" dirty="0" err="1"/>
              <a:t>work</a:t>
            </a:r>
            <a:r>
              <a:rPr lang="es-E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5F261-EE2E-48DE-9EEB-89ADF388B94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793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0C9D4-DE46-3949-A67E-26970EFE7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AB55-3B03-0172-199C-0A02CA60E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0ABAD-9519-4932-5018-DBD8FFC1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EC73E-5176-5351-7C9D-70511A85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0476F-9C8E-CEAF-31EB-82680DF0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886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ACAD-765C-E803-0851-41E9C5A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8D683-1B57-5A31-FB76-C69AFF58F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25D6-70A6-C53D-B318-A59DB960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1BAAC-0725-555B-4160-D907E18C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23A0D-22C9-95F1-6A5F-70C8981B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510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A131E-E828-89A5-A88B-32DE8545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211A7-0563-602C-C29A-33A09B51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9C7E1-33B3-36F7-D340-CFCAD685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6190A-CB07-3453-69C1-9F28777B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E5089-FEF1-B5D4-3C55-08CA9A90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257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DD89-9155-9439-EBDA-7A78C78E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4D61-F1F6-A88E-92B2-700D36BE4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0A906-5CFD-3776-1E2C-24EBEC50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49FF7-CAC9-6BFB-616A-7A1F9E43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ECD36-B1C5-A89D-D3EC-8BCEE556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E007C-63A8-2E57-CB8C-D8EEDFC6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957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6CA4-5344-28F6-0706-B4B74898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91CA0-25D7-B56D-F782-DFC63B245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EBBCC-0186-9AF9-95E5-5FA60E96C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5A92A4-06C7-AFC2-29AC-1CA86DED3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EA1283-051D-7BE8-9858-296D0C670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AD27E-32A2-8785-9FA8-F717294E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B9EC91-3560-2E26-A373-700A5076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F2101-B616-DD7D-AB52-4FEB35BA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88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FC4B-6A6A-FA76-F861-3316344D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0D066-0899-CB9E-A3FA-DE9535E9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7BD85-6FEB-A510-172A-259DF0B7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0303D-2457-B60B-B0E1-8780FB47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76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8241-5967-DDD1-F5F6-7B417612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55278-4B3A-E014-BD27-8F70F03E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E5FA0-94A7-06BF-3744-38CDF5DC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56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9771-132C-577F-D271-D79BD2CD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34B0-322C-BA68-4A49-CAEBCEF2A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DA300-6594-C355-449D-84A496695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95303-1AF1-F38C-D4E3-1A4B4469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55099-ECBD-9CC4-456A-4C473E89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F818C-0CCC-54A2-2E56-5B28F833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28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F7A0-D2F8-DC8C-F7E4-D1C69AD6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831E5-26FD-E8FD-0438-786EF00B5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BD6E0-85E3-A2CB-8100-0935EA53D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18B04-85B9-10A3-9C9E-F462F9640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4EBF1-2D75-AB47-D41B-77669E31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27CC1-630C-D57F-0218-FEFABC68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1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9CA29-2B5D-836F-F8D4-152E2CC4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4D3E0-54F6-8B36-5A23-C9DEEFE62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BEAE9-BE8E-C497-625D-F79ABDAE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0A06A-AE78-D3CC-7ABA-3045D94A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7E6D1-3AB2-4810-33DA-F4AE9501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0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52279-8F60-33B1-2A72-ABC43C521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AB377-9578-FF95-90C5-BE791C4E9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BC74-7E3F-0733-7F8E-512EC75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6D13B-25B5-8A33-A541-EE8A8C4B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8BFA-3681-BBAE-6E65-F52A80EE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474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44766-2548-8D59-B7B4-68FFDAB5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31437-3407-E6A3-7A4D-6DC0BDB9A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40A6F-A1E9-8048-5BF8-D9045161C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BE433-4D3D-4CC6-88B5-0659A6360C11}" type="datetimeFigureOut">
              <a:rPr lang="es-ES" smtClean="0"/>
              <a:t>11/09/2026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D8C75-0C0C-D09A-4EE2-50259C3E7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DA4F3-0629-7E51-33DA-80A029CE3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B0746-E999-474D-8780-D5C67F9F979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347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DDAA845-4C27-36E8-5B5C-E9E6E2A2E1FD}"/>
              </a:ext>
            </a:extLst>
          </p:cNvPr>
          <p:cNvSpPr txBox="1"/>
          <p:nvPr/>
        </p:nvSpPr>
        <p:spPr>
          <a:xfrm>
            <a:off x="10788072" y="6595025"/>
            <a:ext cx="11961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i="0" dirty="0">
                <a:solidFill>
                  <a:schemeClr val="bg1">
                    <a:lumMod val="75000"/>
                  </a:schemeClr>
                </a:solidFill>
                <a:effectLst/>
                <a:latin typeface="DejaVu Sans Mono"/>
              </a:rPr>
              <a:t>16 Sep-2026</a:t>
            </a:r>
            <a:endParaRPr lang="es-E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503EA-E4D4-EDAC-54BE-75B7CA2501A8}"/>
              </a:ext>
            </a:extLst>
          </p:cNvPr>
          <p:cNvSpPr txBox="1"/>
          <p:nvPr/>
        </p:nvSpPr>
        <p:spPr>
          <a:xfrm>
            <a:off x="10778836" y="6333415"/>
            <a:ext cx="15332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 err="1">
                <a:solidFill>
                  <a:schemeClr val="bg1">
                    <a:lumMod val="75000"/>
                  </a:schemeClr>
                </a:solidFill>
                <a:latin typeface="DejaVu Sans Mono"/>
              </a:rPr>
              <a:t>Vatech</a:t>
            </a:r>
            <a:r>
              <a:rPr lang="es-ES" sz="1100" b="1" dirty="0">
                <a:solidFill>
                  <a:schemeClr val="bg1">
                    <a:lumMod val="75000"/>
                  </a:schemeClr>
                </a:solidFill>
                <a:latin typeface="DejaVu Sans Mono"/>
              </a:rPr>
              <a:t> Iberia</a:t>
            </a:r>
            <a:endParaRPr lang="es-E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BC47A9-E42A-2DDF-A8B6-F64C1D96D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135" y="2320868"/>
            <a:ext cx="8369730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0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71A6D6-9F33-7B11-8F89-428019134699}"/>
              </a:ext>
            </a:extLst>
          </p:cNvPr>
          <p:cNvSpPr txBox="1"/>
          <p:nvPr/>
        </p:nvSpPr>
        <p:spPr>
          <a:xfrm>
            <a:off x="3075955" y="5490235"/>
            <a:ext cx="6452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And </a:t>
            </a:r>
            <a:r>
              <a:rPr lang="es-ES" sz="2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how</a:t>
            </a:r>
            <a:r>
              <a:rPr lang="es-ES" sz="2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many</a:t>
            </a:r>
            <a:r>
              <a:rPr lang="es-ES" sz="2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people</a:t>
            </a:r>
            <a:r>
              <a:rPr lang="es-ES" sz="2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</a:t>
            </a:r>
            <a:r>
              <a:rPr lang="es-ES" sz="2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lang="es-ES" sz="2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……..?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59E9A-7883-A159-A7BB-D8ED07E4C3D8}"/>
              </a:ext>
            </a:extLst>
          </p:cNvPr>
          <p:cNvSpPr txBox="1"/>
          <p:nvPr/>
        </p:nvSpPr>
        <p:spPr>
          <a:xfrm>
            <a:off x="1643671" y="2109919"/>
            <a:ext cx="9316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How</a:t>
            </a:r>
            <a:r>
              <a:rPr lang="es-ES" sz="4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4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many</a:t>
            </a:r>
            <a:r>
              <a:rPr lang="es-ES" sz="4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4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people</a:t>
            </a:r>
            <a:r>
              <a:rPr lang="es-ES" sz="4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44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</a:t>
            </a:r>
            <a:r>
              <a:rPr lang="es-ES" sz="44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at ….?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B13D4-02DF-AFC6-8F14-21676BBC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35" y="203984"/>
            <a:ext cx="3219822" cy="85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4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71A6D6-9F33-7B11-8F89-428019134699}"/>
              </a:ext>
            </a:extLst>
          </p:cNvPr>
          <p:cNvSpPr txBox="1"/>
          <p:nvPr/>
        </p:nvSpPr>
        <p:spPr>
          <a:xfrm>
            <a:off x="8475471" y="2366238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59E9A-7883-A159-A7BB-D8ED07E4C3D8}"/>
              </a:ext>
            </a:extLst>
          </p:cNvPr>
          <p:cNvSpPr txBox="1"/>
          <p:nvPr/>
        </p:nvSpPr>
        <p:spPr>
          <a:xfrm>
            <a:off x="181535" y="1319656"/>
            <a:ext cx="319189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60</a:t>
            </a:r>
            <a:r>
              <a:rPr lang="es-ES" sz="115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%</a:t>
            </a:r>
            <a:endParaRPr lang="es-ES" sz="48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7EF10-213A-D097-F6C6-ACC43437B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35" y="203984"/>
            <a:ext cx="3219822" cy="8525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3D18D8-8104-7AD8-83A1-7BB1DADF3065}"/>
              </a:ext>
            </a:extLst>
          </p:cNvPr>
          <p:cNvSpPr txBox="1"/>
          <p:nvPr/>
        </p:nvSpPr>
        <p:spPr>
          <a:xfrm>
            <a:off x="3589020" y="2150795"/>
            <a:ext cx="6487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of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the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working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week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  <a:p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goes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to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about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</a:t>
            </a:r>
            <a:endParaRPr lang="es-ES" sz="28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D1C023-E112-36F8-FC06-5CEFBB49FF97}"/>
              </a:ext>
            </a:extLst>
          </p:cNvPr>
          <p:cNvCxnSpPr>
            <a:cxnSpLocks/>
          </p:cNvCxnSpPr>
          <p:nvPr/>
        </p:nvCxnSpPr>
        <p:spPr>
          <a:xfrm>
            <a:off x="3484880" y="1564640"/>
            <a:ext cx="0" cy="1645920"/>
          </a:xfrm>
          <a:prstGeom prst="line">
            <a:avLst/>
          </a:prstGeom>
          <a:ln>
            <a:solidFill>
              <a:srgbClr val="6C4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EACF2D-C1F6-B48A-B5E8-C693F489962B}"/>
              </a:ext>
            </a:extLst>
          </p:cNvPr>
          <p:cNvGrpSpPr/>
          <p:nvPr/>
        </p:nvGrpSpPr>
        <p:grpSpPr>
          <a:xfrm>
            <a:off x="7551420" y="6254988"/>
            <a:ext cx="6659880" cy="508278"/>
            <a:chOff x="7236460" y="6194028"/>
            <a:chExt cx="6659880" cy="5082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476EB9-5098-6E23-A9B5-9C7004573296}"/>
                </a:ext>
              </a:extLst>
            </p:cNvPr>
            <p:cNvSpPr txBox="1"/>
            <p:nvPr/>
          </p:nvSpPr>
          <p:spPr>
            <a:xfrm>
              <a:off x="7409180" y="6332974"/>
              <a:ext cx="6487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rPr>
                <a:t>Asana · Anatomy of Work Index</a:t>
              </a:r>
              <a:endParaRPr lang="es-ES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C86080-3C9E-F8BD-18D6-E3F1D3E0A944}"/>
                </a:ext>
              </a:extLst>
            </p:cNvPr>
            <p:cNvSpPr txBox="1"/>
            <p:nvPr/>
          </p:nvSpPr>
          <p:spPr>
            <a:xfrm>
              <a:off x="7236460" y="6194028"/>
              <a:ext cx="2921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rPr>
                <a:t>*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83A7EED-A980-B40A-16C5-38F2001CB8E0}"/>
              </a:ext>
            </a:extLst>
          </p:cNvPr>
          <p:cNvSpPr txBox="1"/>
          <p:nvPr/>
        </p:nvSpPr>
        <p:spPr>
          <a:xfrm>
            <a:off x="1" y="4579241"/>
            <a:ext cx="12191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 a </a:t>
            </a:r>
            <a:r>
              <a:rPr lang="es-E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commpany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of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20 </a:t>
            </a:r>
            <a:r>
              <a:rPr lang="es-E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employees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means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that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8 are </a:t>
            </a:r>
            <a:r>
              <a:rPr lang="es-E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really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producing</a:t>
            </a:r>
            <a:endParaRPr lang="es-ES" sz="2000" b="1" dirty="0">
              <a:solidFill>
                <a:schemeClr val="tx1">
                  <a:lumMod val="50000"/>
                  <a:lumOff val="50000"/>
                </a:schemeClr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57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7C4F9F-1415-D36D-3CE9-058CB31BB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35" y="203984"/>
            <a:ext cx="3219822" cy="8525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D6EDFB-C038-8EEA-DDB3-6D015B34E3C1}"/>
              </a:ext>
            </a:extLst>
          </p:cNvPr>
          <p:cNvSpPr txBox="1"/>
          <p:nvPr/>
        </p:nvSpPr>
        <p:spPr>
          <a:xfrm>
            <a:off x="251660" y="1328690"/>
            <a:ext cx="1107996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352</a:t>
            </a:r>
            <a:endParaRPr lang="es-ES" sz="12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02772-9590-0808-DA63-ABB6BB499D9D}"/>
              </a:ext>
            </a:extLst>
          </p:cNvPr>
          <p:cNvSpPr txBox="1"/>
          <p:nvPr/>
        </p:nvSpPr>
        <p:spPr>
          <a:xfrm>
            <a:off x="1225102" y="1698671"/>
            <a:ext cx="334307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sz="9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hs</a:t>
            </a:r>
            <a:endParaRPr lang="es-ES" sz="9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05224-BB7C-DCDB-B1BA-A4B1F7CAC5F6}"/>
              </a:ext>
            </a:extLst>
          </p:cNvPr>
          <p:cNvSpPr txBox="1"/>
          <p:nvPr/>
        </p:nvSpPr>
        <p:spPr>
          <a:xfrm>
            <a:off x="1453002" y="1655901"/>
            <a:ext cx="289886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To</a:t>
            </a:r>
            <a:r>
              <a:rPr lang="es-ES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talk</a:t>
            </a:r>
            <a:r>
              <a:rPr lang="es-ES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about</a:t>
            </a:r>
            <a:r>
              <a:rPr lang="es-ES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</a:t>
            </a:r>
            <a:endParaRPr lang="es-ES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3D4F2B-11E6-5EBE-0F09-EB5F48DE3B02}"/>
              </a:ext>
            </a:extLst>
          </p:cNvPr>
          <p:cNvSpPr txBox="1"/>
          <p:nvPr/>
        </p:nvSpPr>
        <p:spPr>
          <a:xfrm>
            <a:off x="9570288" y="2011334"/>
            <a:ext cx="603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44</a:t>
            </a:r>
          </a:p>
          <a:p>
            <a:pPr algn="ctr"/>
            <a:r>
              <a:rPr lang="es-ES" sz="12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days</a:t>
            </a:r>
            <a:endParaRPr lang="es-ES" sz="12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3F7C7-E817-B1C5-CEED-56070703FDE5}"/>
              </a:ext>
            </a:extLst>
          </p:cNvPr>
          <p:cNvSpPr txBox="1"/>
          <p:nvPr/>
        </p:nvSpPr>
        <p:spPr>
          <a:xfrm>
            <a:off x="267114" y="1940728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209</a:t>
            </a:r>
            <a:endParaRPr lang="es-ES" sz="12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53F75-280A-AB3B-4C26-6507F5AC0D0E}"/>
              </a:ext>
            </a:extLst>
          </p:cNvPr>
          <p:cNvSpPr txBox="1"/>
          <p:nvPr/>
        </p:nvSpPr>
        <p:spPr>
          <a:xfrm>
            <a:off x="1174099" y="2297299"/>
            <a:ext cx="3330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hs</a:t>
            </a:r>
            <a:endParaRPr lang="es-ES" sz="9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37852-AFEC-4138-8116-538A93936F7C}"/>
              </a:ext>
            </a:extLst>
          </p:cNvPr>
          <p:cNvSpPr txBox="1"/>
          <p:nvPr/>
        </p:nvSpPr>
        <p:spPr>
          <a:xfrm>
            <a:off x="1453002" y="2242167"/>
            <a:ext cx="1693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Duplicate</a:t>
            </a:r>
            <a:r>
              <a:rPr lang="es-ES" sz="12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2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</a:t>
            </a:r>
            <a:endParaRPr lang="es-ES" sz="12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F1686-EC18-D960-9AD7-6015182A5027}"/>
              </a:ext>
            </a:extLst>
          </p:cNvPr>
          <p:cNvSpPr txBox="1"/>
          <p:nvPr/>
        </p:nvSpPr>
        <p:spPr>
          <a:xfrm>
            <a:off x="3750131" y="2186949"/>
            <a:ext cx="1295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26</a:t>
            </a:r>
          </a:p>
          <a:p>
            <a:pPr algn="ctr"/>
            <a:r>
              <a:rPr lang="es-ES" sz="12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days</a:t>
            </a:r>
            <a:endParaRPr lang="es-ES" sz="12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9F5F0-840F-5655-6B9B-A50E153A0152}"/>
              </a:ext>
            </a:extLst>
          </p:cNvPr>
          <p:cNvSpPr txBox="1"/>
          <p:nvPr/>
        </p:nvSpPr>
        <p:spPr>
          <a:xfrm>
            <a:off x="283909" y="2615921"/>
            <a:ext cx="101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103</a:t>
            </a:r>
            <a:endParaRPr lang="es-ES" sz="11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D1F49-B3D1-1D53-B373-967BAD004E87}"/>
              </a:ext>
            </a:extLst>
          </p:cNvPr>
          <p:cNvSpPr txBox="1"/>
          <p:nvPr/>
        </p:nvSpPr>
        <p:spPr>
          <a:xfrm>
            <a:off x="1211091" y="2964735"/>
            <a:ext cx="3289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hs</a:t>
            </a:r>
            <a:endParaRPr lang="es-ES" sz="8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71BEBE-A3E3-3AA9-8312-9376FBAB4EF3}"/>
              </a:ext>
            </a:extLst>
          </p:cNvPr>
          <p:cNvSpPr txBox="1"/>
          <p:nvPr/>
        </p:nvSpPr>
        <p:spPr>
          <a:xfrm>
            <a:off x="1453002" y="2905938"/>
            <a:ext cx="18966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Unnecesary</a:t>
            </a:r>
            <a:r>
              <a: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meetings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3C2C04-5478-33C1-6EF5-2CBD3EC68C52}"/>
              </a:ext>
            </a:extLst>
          </p:cNvPr>
          <p:cNvSpPr txBox="1"/>
          <p:nvPr/>
        </p:nvSpPr>
        <p:spPr>
          <a:xfrm>
            <a:off x="4090895" y="2802938"/>
            <a:ext cx="6039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12</a:t>
            </a:r>
          </a:p>
          <a:p>
            <a:pPr algn="ctr"/>
            <a:r>
              <a:rPr lang="es-ES" sz="11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days</a:t>
            </a:r>
            <a:endParaRPr lang="es-ES" sz="11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3028BF-EE84-B29F-6257-69099633E1DE}"/>
              </a:ext>
            </a:extLst>
          </p:cNvPr>
          <p:cNvSpPr txBox="1"/>
          <p:nvPr/>
        </p:nvSpPr>
        <p:spPr>
          <a:xfrm>
            <a:off x="300788" y="3382700"/>
            <a:ext cx="739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70</a:t>
            </a:r>
            <a:endParaRPr lang="es-ES" sz="11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0D0402-9F10-3254-B709-8314B08981B2}"/>
              </a:ext>
            </a:extLst>
          </p:cNvPr>
          <p:cNvSpPr txBox="1"/>
          <p:nvPr/>
        </p:nvSpPr>
        <p:spPr>
          <a:xfrm>
            <a:off x="867290" y="3731514"/>
            <a:ext cx="3289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CE5B13-521A-2A52-358F-ED5CAB24531F}"/>
              </a:ext>
            </a:extLst>
          </p:cNvPr>
          <p:cNvSpPr txBox="1"/>
          <p:nvPr/>
        </p:nvSpPr>
        <p:spPr>
          <a:xfrm>
            <a:off x="1453002" y="3604152"/>
            <a:ext cx="24431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Sales </a:t>
            </a:r>
            <a:r>
              <a:rPr lang="es-ES" sz="11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rep</a:t>
            </a:r>
            <a:r>
              <a: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1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week</a:t>
            </a:r>
            <a:r>
              <a: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1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not</a:t>
            </a:r>
            <a:r>
              <a: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1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selling</a:t>
            </a:r>
            <a:endParaRPr lang="es-ES" sz="11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3B17EE-5760-6DB7-F161-5B4F91041A52}"/>
              </a:ext>
            </a:extLst>
          </p:cNvPr>
          <p:cNvSpPr txBox="1"/>
          <p:nvPr/>
        </p:nvSpPr>
        <p:spPr>
          <a:xfrm>
            <a:off x="4071119" y="3556185"/>
            <a:ext cx="6039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154</a:t>
            </a:r>
          </a:p>
          <a:p>
            <a:pPr algn="ctr"/>
            <a:r>
              <a:rPr lang="es-ES" sz="11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days</a:t>
            </a:r>
            <a:endParaRPr lang="es-ES" sz="11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E5A026-D76E-FD94-D517-3A76BA4DBC52}"/>
              </a:ext>
            </a:extLst>
          </p:cNvPr>
          <p:cNvGrpSpPr/>
          <p:nvPr/>
        </p:nvGrpSpPr>
        <p:grpSpPr>
          <a:xfrm>
            <a:off x="8499480" y="3088724"/>
            <a:ext cx="1375998" cy="1847623"/>
            <a:chOff x="7343406" y="1648211"/>
            <a:chExt cx="2465003" cy="325187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984A1D7-03B2-2924-858B-9341047A7E70}"/>
                </a:ext>
              </a:extLst>
            </p:cNvPr>
            <p:cNvGrpSpPr/>
            <p:nvPr/>
          </p:nvGrpSpPr>
          <p:grpSpPr>
            <a:xfrm>
              <a:off x="7438769" y="1648211"/>
              <a:ext cx="2369640" cy="2352208"/>
              <a:chOff x="6849489" y="1759971"/>
              <a:chExt cx="2369640" cy="235220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F18F8DB-94A9-9252-FE8C-D25406B82992}"/>
                  </a:ext>
                </a:extLst>
              </p:cNvPr>
              <p:cNvSpPr txBox="1"/>
              <p:nvPr/>
            </p:nvSpPr>
            <p:spPr>
              <a:xfrm>
                <a:off x="6909814" y="1817450"/>
                <a:ext cx="1324413" cy="1137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3600" b="1" dirty="0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19</a:t>
                </a:r>
                <a:endParaRPr lang="es-ES" sz="1100" b="1" dirty="0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8771EF9-313B-B099-20C5-46BE2F3714FA}"/>
                  </a:ext>
                </a:extLst>
              </p:cNvPr>
              <p:cNvSpPr txBox="1"/>
              <p:nvPr/>
            </p:nvSpPr>
            <p:spPr>
              <a:xfrm>
                <a:off x="7924662" y="2431374"/>
                <a:ext cx="589280" cy="379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800" b="1" dirty="0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BB58E50-DD4D-1166-AB0D-9315C78C0610}"/>
                  </a:ext>
                </a:extLst>
              </p:cNvPr>
              <p:cNvSpPr txBox="1"/>
              <p:nvPr/>
            </p:nvSpPr>
            <p:spPr>
              <a:xfrm>
                <a:off x="6921581" y="2972061"/>
                <a:ext cx="2291833" cy="1056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100" b="1" dirty="0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Time </a:t>
                </a:r>
                <a:r>
                  <a:rPr lang="es-ES" sz="1100" b="1" dirty="0" err="1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looking</a:t>
                </a:r>
                <a:r>
                  <a:rPr lang="es-ES" sz="1100" b="1" dirty="0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lang="es-ES" sz="1100" b="1" dirty="0" err="1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for</a:t>
                </a:r>
                <a:r>
                  <a:rPr lang="es-ES" sz="1100" b="1" dirty="0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lang="es-ES" sz="1100" b="1" dirty="0" err="1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info</a:t>
                </a:r>
                <a:r>
                  <a:rPr lang="es-ES" sz="1100" b="1" dirty="0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. </a:t>
                </a:r>
                <a:r>
                  <a:rPr lang="es-ES" sz="1100" b="1" dirty="0" err="1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that</a:t>
                </a:r>
                <a:r>
                  <a:rPr lang="es-ES" sz="1100" b="1" dirty="0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lang="es-ES" sz="1100" b="1" dirty="0" err="1">
                    <a:solidFill>
                      <a:schemeClr val="bg1"/>
                    </a:solidFill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exist</a:t>
                </a:r>
                <a:endParaRPr lang="es-ES" sz="1100" b="1" dirty="0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93E12664-B22F-EE2C-47F5-EFE7AF64F10A}"/>
                  </a:ext>
                </a:extLst>
              </p:cNvPr>
              <p:cNvSpPr/>
              <p:nvPr/>
            </p:nvSpPr>
            <p:spPr>
              <a:xfrm>
                <a:off x="6849489" y="1759971"/>
                <a:ext cx="2369640" cy="2352208"/>
              </a:xfrm>
              <a:prstGeom prst="roundRect">
                <a:avLst/>
              </a:prstGeom>
              <a:noFill/>
              <a:ln>
                <a:solidFill>
                  <a:srgbClr val="C6FF3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90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E674297-0C34-BFAC-269F-C62A24B8D341}"/>
                </a:ext>
              </a:extLst>
            </p:cNvPr>
            <p:cNvSpPr txBox="1"/>
            <p:nvPr/>
          </p:nvSpPr>
          <p:spPr>
            <a:xfrm>
              <a:off x="7343406" y="4141711"/>
              <a:ext cx="2291833" cy="75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100" b="1" dirty="0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rPr>
                <a:t>42</a:t>
              </a:r>
            </a:p>
            <a:p>
              <a:pPr algn="ctr"/>
              <a:r>
                <a:rPr lang="es-ES" sz="1100" b="1" dirty="0" err="1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rPr>
                <a:t>days</a:t>
              </a:r>
              <a:endParaRPr lang="es-ES" sz="11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59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71A6D6-9F33-7B11-8F89-428019134699}"/>
              </a:ext>
            </a:extLst>
          </p:cNvPr>
          <p:cNvSpPr txBox="1"/>
          <p:nvPr/>
        </p:nvSpPr>
        <p:spPr>
          <a:xfrm>
            <a:off x="6606031" y="2294689"/>
            <a:ext cx="399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59E9A-7883-A159-A7BB-D8ED07E4C3D8}"/>
              </a:ext>
            </a:extLst>
          </p:cNvPr>
          <p:cNvSpPr txBox="1"/>
          <p:nvPr/>
        </p:nvSpPr>
        <p:spPr>
          <a:xfrm>
            <a:off x="181535" y="1319656"/>
            <a:ext cx="319189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70</a:t>
            </a:r>
            <a:r>
              <a:rPr lang="es-ES" sz="115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%</a:t>
            </a:r>
            <a:endParaRPr lang="es-ES" sz="48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7EF10-213A-D097-F6C6-ACC43437B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35" y="203984"/>
            <a:ext cx="3219822" cy="8525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3D18D8-8104-7AD8-83A1-7BB1DADF3065}"/>
              </a:ext>
            </a:extLst>
          </p:cNvPr>
          <p:cNvSpPr txBox="1"/>
          <p:nvPr/>
        </p:nvSpPr>
        <p:spPr>
          <a:xfrm>
            <a:off x="3596327" y="1950597"/>
            <a:ext cx="76987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of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the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working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week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of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a sales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rep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aren’t</a:t>
            </a:r>
            <a:r>
              <a:rPr lang="es-ES" sz="28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selling</a:t>
            </a:r>
            <a:endParaRPr lang="es-ES" sz="28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D1C023-E112-36F8-FC06-5CEFBB49FF97}"/>
              </a:ext>
            </a:extLst>
          </p:cNvPr>
          <p:cNvCxnSpPr>
            <a:cxnSpLocks/>
          </p:cNvCxnSpPr>
          <p:nvPr/>
        </p:nvCxnSpPr>
        <p:spPr>
          <a:xfrm>
            <a:off x="3484880" y="1564640"/>
            <a:ext cx="0" cy="1645920"/>
          </a:xfrm>
          <a:prstGeom prst="line">
            <a:avLst/>
          </a:prstGeom>
          <a:ln>
            <a:solidFill>
              <a:srgbClr val="6C4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EACF2D-C1F6-B48A-B5E8-C693F489962B}"/>
              </a:ext>
            </a:extLst>
          </p:cNvPr>
          <p:cNvGrpSpPr/>
          <p:nvPr/>
        </p:nvGrpSpPr>
        <p:grpSpPr>
          <a:xfrm>
            <a:off x="7551420" y="6254988"/>
            <a:ext cx="6659880" cy="508278"/>
            <a:chOff x="7236460" y="6194028"/>
            <a:chExt cx="6659880" cy="5082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476EB9-5098-6E23-A9B5-9C7004573296}"/>
                </a:ext>
              </a:extLst>
            </p:cNvPr>
            <p:cNvSpPr txBox="1"/>
            <p:nvPr/>
          </p:nvSpPr>
          <p:spPr>
            <a:xfrm>
              <a:off x="7409180" y="6332974"/>
              <a:ext cx="6487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rPr>
                <a:t>Salesforce, state of sales</a:t>
              </a:r>
              <a:endParaRPr lang="es-ES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C86080-3C9E-F8BD-18D6-E3F1D3E0A944}"/>
                </a:ext>
              </a:extLst>
            </p:cNvPr>
            <p:cNvSpPr txBox="1"/>
            <p:nvPr/>
          </p:nvSpPr>
          <p:spPr>
            <a:xfrm>
              <a:off x="7236460" y="6194028"/>
              <a:ext cx="2921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latin typeface="JetBrains Mono" panose="02000009000000000000" pitchFamily="49" charset="0"/>
                  <a:cs typeface="JetBrains Mono" panose="02000009000000000000" pitchFamily="49" charset="0"/>
                </a:rPr>
                <a:t>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748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7C4F9F-1415-D36D-3CE9-058CB31BB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35" y="203984"/>
            <a:ext cx="3219822" cy="85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9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6657</TotalTime>
  <Words>135</Words>
  <Application>Microsoft Office PowerPoint</Application>
  <PresentationFormat>Widescreen</PresentationFormat>
  <Paragraphs>45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DejaVu Sans Mono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Conde</dc:creator>
  <cp:lastModifiedBy>Gonzalo Conde</cp:lastModifiedBy>
  <cp:revision>5</cp:revision>
  <dcterms:created xsi:type="dcterms:W3CDTF">2026-09-03T14:38:25Z</dcterms:created>
  <dcterms:modified xsi:type="dcterms:W3CDTF">2026-09-12T20:08:09Z</dcterms:modified>
</cp:coreProperties>
</file>